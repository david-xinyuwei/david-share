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11F4B"/>
          </a:solidFill>
          <a:ln>
            <a:solidFill>
              <a:srgbClr val="B11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B11F4B"/>
          </a:solidFill>
          <a:ln>
            <a:solidFill>
              <a:srgbClr val="B11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822960"/>
            <a:ext cx="2240280" cy="132588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6840" y="2423160"/>
            <a:ext cx="2606040" cy="960120"/>
          </a:xfrm>
          <a:prstGeom prst="rect">
            <a:avLst/>
          </a:prstGeom>
          <a:solidFill>
            <a:srgbClr val="E7A93B"/>
          </a:solidFill>
          <a:ln>
            <a:solidFill>
              <a:srgbClr val="E7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46920" y="3703320"/>
            <a:ext cx="1965960" cy="2103120"/>
          </a:xfrm>
          <a:prstGeom prst="rect">
            <a:avLst/>
          </a:prstGeom>
          <a:solidFill>
            <a:srgbClr val="F7F4EF"/>
          </a:solidFill>
          <a:ln>
            <a:solidFill>
              <a:srgbClr val="F7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_TITLE"/>
          <p:cNvSpPr txBox="1"/>
          <p:nvPr/>
        </p:nvSpPr>
        <p:spPr>
          <a:xfrm>
            <a:off x="749808" y="1325880"/>
            <a:ext cx="72237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Meeting title</a:t>
            </a:r>
          </a:p>
        </p:txBody>
      </p:sp>
      <p:sp>
        <p:nvSpPr>
          <p:cNvPr id="8" name="MA_SUBTITLE"/>
          <p:cNvSpPr txBox="1"/>
          <p:nvPr/>
        </p:nvSpPr>
        <p:spPr>
          <a:xfrm>
            <a:off x="777240" y="2971800"/>
            <a:ext cx="6766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Executive meeting package</a:t>
            </a:r>
          </a:p>
        </p:txBody>
      </p:sp>
      <p:sp>
        <p:nvSpPr>
          <p:cNvPr id="9" name="MA_COVER_LABEL"/>
          <p:cNvSpPr txBox="1"/>
          <p:nvPr/>
        </p:nvSpPr>
        <p:spPr>
          <a:xfrm>
            <a:off x="777240" y="566928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7A93B"/>
                </a:solidFill>
                <a:latin typeface="Aptos"/>
              </a:defRPr>
            </a:pPr>
            <a:r>
              <a:t>MEETING AGENT  /  EVIDENCE TO ACTION</a:t>
            </a:r>
          </a:p>
        </p:txBody>
      </p:sp>
      <p:sp>
        <p:nvSpPr>
          <p:cNvPr id="10" name="MA_COVER_FOOTER"/>
          <p:cNvSpPr txBox="1"/>
          <p:nvPr/>
        </p:nvSpPr>
        <p:spPr>
          <a:xfrm>
            <a:off x="777240" y="6199632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Generated from validated meeting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_SECTION_2"/>
          <p:cNvSpPr txBox="1"/>
          <p:nvPr/>
        </p:nvSpPr>
        <p:spPr>
          <a:xfrm>
            <a:off x="594360" y="347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B11F4B"/>
                </a:solidFill>
                <a:latin typeface="Aptos"/>
              </a:defRPr>
            </a:pPr>
            <a:r>
              <a:t>01 / READOUT</a:t>
            </a:r>
          </a:p>
        </p:txBody>
      </p:sp>
      <p:sp>
        <p:nvSpPr>
          <p:cNvPr id="3" name="MA_SLIDE_TITLE_2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42424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MA_PAGE_2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864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6903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_SUMMARY"/>
          <p:cNvSpPr txBox="1"/>
          <p:nvPr/>
        </p:nvSpPr>
        <p:spPr>
          <a:xfrm>
            <a:off x="914400" y="1965960"/>
            <a:ext cx="6263640" cy="3520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0">
                <a:solidFill>
                  <a:srgbClr val="242424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00200"/>
            <a:ext cx="3657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600200"/>
            <a:ext cx="109728" cy="1170432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_TOPIC_COUNT"/>
          <p:cNvSpPr txBox="1"/>
          <p:nvPr/>
        </p:nvSpPr>
        <p:spPr>
          <a:xfrm>
            <a:off x="8275320" y="1764792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07C83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10" name="MA_TOPIC_COUNT_LABEL"/>
          <p:cNvSpPr txBox="1"/>
          <p:nvPr/>
        </p:nvSpPr>
        <p:spPr>
          <a:xfrm>
            <a:off x="9281160" y="199339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8645F"/>
                </a:solidFill>
                <a:latin typeface="Aptos"/>
              </a:defRPr>
            </a:pPr>
            <a:r>
              <a:t>TOPICS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044952"/>
            <a:ext cx="3657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3044952"/>
            <a:ext cx="109728" cy="1170432"/>
          </a:xfrm>
          <a:prstGeom prst="rect">
            <a:avLst/>
          </a:prstGeom>
          <a:solidFill>
            <a:srgbClr val="B11F4B"/>
          </a:solidFill>
          <a:ln>
            <a:solidFill>
              <a:srgbClr val="B11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A_DECISION_COUNT"/>
          <p:cNvSpPr txBox="1"/>
          <p:nvPr/>
        </p:nvSpPr>
        <p:spPr>
          <a:xfrm>
            <a:off x="8275320" y="320954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B11F4B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14" name="MA_DECISION_COUNT_LABEL"/>
          <p:cNvSpPr txBox="1"/>
          <p:nvPr/>
        </p:nvSpPr>
        <p:spPr>
          <a:xfrm>
            <a:off x="9281160" y="3438144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8645F"/>
                </a:solidFill>
                <a:latin typeface="Aptos"/>
              </a:defRPr>
            </a:pPr>
            <a:r>
              <a:t>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489704"/>
            <a:ext cx="3657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4489704"/>
            <a:ext cx="109728" cy="1170432"/>
          </a:xfrm>
          <a:prstGeom prst="rect">
            <a:avLst/>
          </a:prstGeom>
          <a:solidFill>
            <a:srgbClr val="E7A93B"/>
          </a:solidFill>
          <a:ln>
            <a:solidFill>
              <a:srgbClr val="E7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A_ACTION_COUNT"/>
          <p:cNvSpPr txBox="1"/>
          <p:nvPr/>
        </p:nvSpPr>
        <p:spPr>
          <a:xfrm>
            <a:off x="8275320" y="4654296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7A93B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18" name="MA_ACTION_COUNT_LABEL"/>
          <p:cNvSpPr txBox="1"/>
          <p:nvPr/>
        </p:nvSpPr>
        <p:spPr>
          <a:xfrm>
            <a:off x="9281160" y="4882896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8645F"/>
                </a:solidFill>
                <a:latin typeface="Aptos"/>
              </a:defRPr>
            </a:pPr>
            <a:r>
              <a:t>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_SECTION_3"/>
          <p:cNvSpPr txBox="1"/>
          <p:nvPr/>
        </p:nvSpPr>
        <p:spPr>
          <a:xfrm>
            <a:off x="594360" y="347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B11F4B"/>
                </a:solidFill>
                <a:latin typeface="Aptos"/>
              </a:defRPr>
            </a:pPr>
            <a:r>
              <a:t>02 / THEMES</a:t>
            </a:r>
          </a:p>
        </p:txBody>
      </p:sp>
      <p:sp>
        <p:nvSpPr>
          <p:cNvPr id="3" name="MA_SLIDE_TITLE_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42424"/>
                </a:solidFill>
                <a:latin typeface="Aptos"/>
              </a:defRPr>
            </a:pPr>
            <a:r>
              <a:t>What shaped the discussion</a:t>
            </a:r>
          </a:p>
        </p:txBody>
      </p:sp>
      <p:sp>
        <p:nvSpPr>
          <p:cNvPr id="4" name="MA_PAGE_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864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27632"/>
            <a:ext cx="3456432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27632"/>
            <a:ext cx="3456432" cy="128016"/>
          </a:xfrm>
          <a:prstGeom prst="rect">
            <a:avLst/>
          </a:prstGeom>
          <a:solidFill>
            <a:srgbClr val="B11F4B"/>
          </a:solidFill>
          <a:ln>
            <a:solidFill>
              <a:srgbClr val="B11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_TOPIC_INDEX_1"/>
          <p:cNvSpPr txBox="1"/>
          <p:nvPr/>
        </p:nvSpPr>
        <p:spPr>
          <a:xfrm>
            <a:off x="886968" y="196596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B11F4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MA_TOPICS_1"/>
          <p:cNvSpPr txBox="1"/>
          <p:nvPr/>
        </p:nvSpPr>
        <p:spPr>
          <a:xfrm>
            <a:off x="886968" y="2514600"/>
            <a:ext cx="2852928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Aptos"/>
              </a:defRPr>
            </a:pPr>
            <a:r>
              <a:t>Topic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27632"/>
            <a:ext cx="3456432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627632"/>
            <a:ext cx="3456432" cy="128016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_TOPIC_INDEX_2"/>
          <p:cNvSpPr txBox="1"/>
          <p:nvPr/>
        </p:nvSpPr>
        <p:spPr>
          <a:xfrm>
            <a:off x="4709160" y="196596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007C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MA_TOPICS_2"/>
          <p:cNvSpPr txBox="1"/>
          <p:nvPr/>
        </p:nvSpPr>
        <p:spPr>
          <a:xfrm>
            <a:off x="4709160" y="2514600"/>
            <a:ext cx="2852928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Aptos"/>
              </a:defRPr>
            </a:pPr>
            <a:r>
              <a:t>Topic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627632"/>
            <a:ext cx="3456432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38744" y="1627632"/>
            <a:ext cx="3456432" cy="128016"/>
          </a:xfrm>
          <a:prstGeom prst="rect">
            <a:avLst/>
          </a:prstGeom>
          <a:solidFill>
            <a:srgbClr val="E7A93B"/>
          </a:solidFill>
          <a:ln>
            <a:solidFill>
              <a:srgbClr val="E7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A_TOPIC_INDEX_3"/>
          <p:cNvSpPr txBox="1"/>
          <p:nvPr/>
        </p:nvSpPr>
        <p:spPr>
          <a:xfrm>
            <a:off x="8531352" y="196596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E7A93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MA_TOPICS_3"/>
          <p:cNvSpPr txBox="1"/>
          <p:nvPr/>
        </p:nvSpPr>
        <p:spPr>
          <a:xfrm>
            <a:off x="8531352" y="2514600"/>
            <a:ext cx="2852928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Aptos"/>
              </a:defRPr>
            </a:pPr>
            <a:r>
              <a:t>Topic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_SECTION_4"/>
          <p:cNvSpPr txBox="1"/>
          <p:nvPr/>
        </p:nvSpPr>
        <p:spPr>
          <a:xfrm>
            <a:off x="594360" y="347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B11F4B"/>
                </a:solidFill>
                <a:latin typeface="Aptos"/>
              </a:defRPr>
            </a:pPr>
            <a:r>
              <a:t>03 / EXECUTION</a:t>
            </a:r>
          </a:p>
        </p:txBody>
      </p:sp>
      <p:sp>
        <p:nvSpPr>
          <p:cNvPr id="3" name="MA_SLIDE_TITLE_4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42424"/>
                </a:solidFill>
                <a:latin typeface="Aptos"/>
              </a:defRPr>
            </a:pPr>
            <a:r>
              <a:t>Decisions and action register</a:t>
            </a:r>
          </a:p>
        </p:txBody>
      </p:sp>
      <p:sp>
        <p:nvSpPr>
          <p:cNvPr id="4" name="MA_PAGE_4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864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4983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4983480" cy="548640"/>
          </a:xfrm>
          <a:prstGeom prst="rect">
            <a:avLst/>
          </a:prstGeom>
          <a:solidFill>
            <a:srgbClr val="B11F4B"/>
          </a:solidFill>
          <a:ln>
            <a:solidFill>
              <a:srgbClr val="B11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_DECISIONS_LABEL"/>
          <p:cNvSpPr txBox="1"/>
          <p:nvPr/>
        </p:nvSpPr>
        <p:spPr>
          <a:xfrm>
            <a:off x="868680" y="177393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DECISIONS</a:t>
            </a:r>
          </a:p>
        </p:txBody>
      </p:sp>
      <p:sp>
        <p:nvSpPr>
          <p:cNvPr id="8" name="MA_DECISIONS"/>
          <p:cNvSpPr txBox="1"/>
          <p:nvPr/>
        </p:nvSpPr>
        <p:spPr>
          <a:xfrm>
            <a:off x="896112" y="2450592"/>
            <a:ext cx="438912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Aptos"/>
              </a:defRPr>
            </a:pPr>
            <a:r>
              <a:t>Decision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00200"/>
            <a:ext cx="569671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1600200"/>
            <a:ext cx="5696712" cy="54864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_ACTIONS_LABEL"/>
          <p:cNvSpPr txBox="1"/>
          <p:nvPr/>
        </p:nvSpPr>
        <p:spPr>
          <a:xfrm>
            <a:off x="6172200" y="177393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 REGISTER</a:t>
            </a:r>
          </a:p>
        </p:txBody>
      </p:sp>
      <p:sp>
        <p:nvSpPr>
          <p:cNvPr id="12" name="MA_ACTIONS"/>
          <p:cNvSpPr txBox="1"/>
          <p:nvPr/>
        </p:nvSpPr>
        <p:spPr>
          <a:xfrm>
            <a:off x="6199632" y="2450592"/>
            <a:ext cx="5084064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Aptos"/>
              </a:defRPr>
            </a:pPr>
            <a:r>
              <a:t>Action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_SECTION_5"/>
          <p:cNvSpPr txBox="1"/>
          <p:nvPr/>
        </p:nvSpPr>
        <p:spPr>
          <a:xfrm>
            <a:off x="594360" y="347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B11F4B"/>
                </a:solidFill>
                <a:latin typeface="Aptos"/>
              </a:defRPr>
            </a:pPr>
            <a:r>
              <a:t>04 / MAP</a:t>
            </a:r>
          </a:p>
        </p:txBody>
      </p:sp>
      <p:sp>
        <p:nvSpPr>
          <p:cNvPr id="3" name="MA_SLIDE_TITLE_5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Meeting landscape</a:t>
            </a:r>
          </a:p>
        </p:txBody>
      </p:sp>
      <p:sp>
        <p:nvSpPr>
          <p:cNvPr id="4" name="MA_PAGE_5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8645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MA_MIND_MAP_FRAME"/>
          <p:cNvSpPr/>
          <p:nvPr/>
        </p:nvSpPr>
        <p:spPr>
          <a:xfrm>
            <a:off x="658368" y="1481328"/>
            <a:ext cx="10881360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_MIND_MAP_NOTE"/>
          <p:cNvSpPr txBox="1"/>
          <p:nvPr/>
        </p:nvSpPr>
        <p:spPr>
          <a:xfrm>
            <a:off x="74980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Rendered from the structured meeting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_SECTION_6"/>
          <p:cNvSpPr txBox="1"/>
          <p:nvPr/>
        </p:nvSpPr>
        <p:spPr>
          <a:xfrm>
            <a:off x="594360" y="347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B11F4B"/>
                </a:solidFill>
                <a:latin typeface="Aptos"/>
              </a:defRPr>
            </a:pPr>
            <a:r>
              <a:t>05 / FORWARD</a:t>
            </a:r>
          </a:p>
        </p:txBody>
      </p:sp>
      <p:sp>
        <p:nvSpPr>
          <p:cNvPr id="3" name="MA_SLIDE_TITLE_6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42424"/>
                </a:solidFill>
                <a:latin typeface="Aptos"/>
              </a:defRPr>
            </a:pPr>
            <a:r>
              <a:t>Open questions and next conversation</a:t>
            </a:r>
          </a:p>
        </p:txBody>
      </p:sp>
      <p:sp>
        <p:nvSpPr>
          <p:cNvPr id="4" name="MA_PAGE_6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8645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6949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_QUESTIONS"/>
          <p:cNvSpPr txBox="1"/>
          <p:nvPr/>
        </p:nvSpPr>
        <p:spPr>
          <a:xfrm>
            <a:off x="914400" y="1965960"/>
            <a:ext cx="63093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Aptos"/>
              </a:defRPr>
            </a:pPr>
            <a:r>
              <a:t>Open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600200"/>
            <a:ext cx="3657600" cy="438912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_NEXT_LABEL"/>
          <p:cNvSpPr txBox="1"/>
          <p:nvPr/>
        </p:nvSpPr>
        <p:spPr>
          <a:xfrm>
            <a:off x="8229600" y="199339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NEXT CONVERSATION</a:t>
            </a:r>
          </a:p>
        </p:txBody>
      </p:sp>
      <p:sp>
        <p:nvSpPr>
          <p:cNvPr id="9" name="MA_NEXT_STEP"/>
          <p:cNvSpPr txBox="1"/>
          <p:nvPr/>
        </p:nvSpPr>
        <p:spPr>
          <a:xfrm>
            <a:off x="8229600" y="2651760"/>
            <a:ext cx="2880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Resolve the open questions and confirm owners.</a:t>
            </a:r>
          </a:p>
        </p:txBody>
      </p:sp>
      <p:sp>
        <p:nvSpPr>
          <p:cNvPr id="10" name="MA_CLOSE"/>
          <p:cNvSpPr txBox="1"/>
          <p:nvPr/>
        </p:nvSpPr>
        <p:spPr>
          <a:xfrm>
            <a:off x="8229600" y="5257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Evidence first. Human review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